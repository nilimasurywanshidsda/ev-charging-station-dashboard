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(₹)</c:v>
                </c:pt>
              </c:strCache>
            </c:strRef>
          </c:tx>
          <c:spPr>
            <a:solidFill>
              <a:srgbClr val="00C6A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0E8-4066-9DAA-EDE1E8C8BC7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0E8-4066-9DAA-EDE1E8C8BC77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C0E8-4066-9DAA-EDE1E8C8BC77}"/>
              </c:ext>
            </c:extLst>
          </c:dPt>
          <c:dPt>
            <c:idx val="3"/>
            <c:invertIfNegative val="0"/>
            <c:bubble3D val="0"/>
            <c:spPr>
              <a:solidFill>
                <a:srgbClr val="008B7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0E8-4066-9DAA-EDE1E8C8BC77}"/>
              </c:ext>
            </c:extLst>
          </c:dPt>
          <c:dPt>
            <c:idx val="4"/>
            <c:invertIfNegative val="0"/>
            <c:bubble3D val="0"/>
            <c:spPr>
              <a:solidFill>
                <a:srgbClr val="008B7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0E8-4066-9DAA-EDE1E8C8BC77}"/>
              </c:ext>
            </c:extLst>
          </c:dPt>
          <c:dPt>
            <c:idx val="5"/>
            <c:invertIfNegative val="0"/>
            <c:bubble3D val="0"/>
            <c:spPr>
              <a:solidFill>
                <a:srgbClr val="EF476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0E8-4066-9DAA-EDE1E8C8BC7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A162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Bangalore</c:v>
                </c:pt>
                <c:pt idx="1">
                  <c:v>Pune</c:v>
                </c:pt>
                <c:pt idx="2">
                  <c:v>Hyderabad</c:v>
                </c:pt>
                <c:pt idx="3">
                  <c:v>Chennai</c:v>
                </c:pt>
                <c:pt idx="4">
                  <c:v>Delhi</c:v>
                </c:pt>
                <c:pt idx="5">
                  <c:v>Mumbai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210000</c:v>
                </c:pt>
                <c:pt idx="1">
                  <c:v>185000</c:v>
                </c:pt>
                <c:pt idx="2">
                  <c:v>170000</c:v>
                </c:pt>
                <c:pt idx="3">
                  <c:v>155000</c:v>
                </c:pt>
                <c:pt idx="4">
                  <c:v>140000</c:v>
                </c:pt>
                <c:pt idx="5">
                  <c:v>120000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0E8-4066-9DAA-EDE1E8C8BC7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en-IN" sz="1800" b="0" i="0" u="none" strike="noStrike">
                <a:solidFill>
                  <a:srgbClr val="FFFFFF"/>
                </a:solidFill>
                <a:latin typeface="Arial"/>
              </a:rPr>
              <a:t>Revenue by Charger Type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Charger Type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C6A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04E-454F-ABCD-AB4BDBE5A8BA}"/>
              </c:ext>
            </c:extLst>
          </c:dPt>
          <c:dPt>
            <c:idx val="1"/>
            <c:bubble3D val="0"/>
            <c:spPr>
              <a:solidFill>
                <a:srgbClr val="FFD1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04E-454F-ABCD-AB4BDBE5A8B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04E-454F-ABCD-AB4BDBE5A8B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04E-454F-ABCD-AB4BDBE5A8B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Fast Charger</c:v>
                </c:pt>
                <c:pt idx="1">
                  <c:v>Slow Charger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04E-454F-ABCD-AB4BDBE5A8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112240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FFFFFF"/>
                </a:solidFill>
                <a:latin typeface="Arial"/>
              </a:defRPr>
            </a:pPr>
            <a:r>
              <a:rPr lang="en-IN" sz="1800" b="0" i="0" u="none" strike="noStrike">
                <a:solidFill>
                  <a:srgbClr val="FFFFFF"/>
                </a:solidFill>
                <a:latin typeface="Arial"/>
              </a:rPr>
              <a:t>Energy by Vehicle Type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Energy (kWh)</c:v>
                </c:pt>
              </c:strCache>
            </c:strRef>
          </c:tx>
          <c:spPr>
            <a:solidFill>
              <a:srgbClr val="EF476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608-4449-A0E8-C6FFE77E298D}"/>
              </c:ext>
            </c:extLst>
          </c:dPt>
          <c:dPt>
            <c:idx val="1"/>
            <c:invertIfNegative val="0"/>
            <c:bubble3D val="0"/>
            <c:spPr>
              <a:solidFill>
                <a:srgbClr val="00C6A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608-4449-A0E8-C6FFE77E298D}"/>
              </c:ext>
            </c:extLst>
          </c:dPt>
          <c:dPt>
            <c:idx val="2"/>
            <c:invertIfNegative val="0"/>
            <c:bubble3D val="0"/>
            <c:spPr>
              <a:solidFill>
                <a:srgbClr val="FFD1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608-4449-A0E8-C6FFE77E298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Bike</c:v>
                </c:pt>
                <c:pt idx="1">
                  <c:v>Car</c:v>
                </c:pt>
                <c:pt idx="2">
                  <c:v>Scooter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24000</c:v>
                </c:pt>
                <c:pt idx="1">
                  <c:v>20000</c:v>
                </c:pt>
                <c:pt idx="2">
                  <c:v>11000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608-4449-A0E8-C6FFE77E298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2E8F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1224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3169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Charging Station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1148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Dashboard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27432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Project  |  2024–2026  |  Nilima Surywanshi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3566160"/>
            <a:ext cx="1920240" cy="109728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3611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1480" y="4114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3566160"/>
            <a:ext cx="1920240" cy="109728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3611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560320" y="4114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3566160"/>
            <a:ext cx="1920240" cy="109728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09160" y="3611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55K kWh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09160" y="4114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0" y="3566160"/>
            <a:ext cx="1920240" cy="109728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0" y="3611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2000+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0" y="4114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347472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2743200" cy="109728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246888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revenue, energy consumption, and EV charging station usage patterns across cities and charger types using Power BI.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347472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05840"/>
            <a:ext cx="2743200" cy="109728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0040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37560" y="246888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charging stations, charger types (Fast/Slow), vehicle types (Car/Bike/Scooter), and transaction details across multiple cities.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743200" cy="347472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05840"/>
            <a:ext cx="2743200" cy="109728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2648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6888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actionable insights on EV trends to support future planning and expansion of charging infrastructure.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8B7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AT A GLANCE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155448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91440" cy="1554480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₹1,000,000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7556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+Growing YoY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155448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05840"/>
            <a:ext cx="91440" cy="155448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1887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383280" y="17556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Transactions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103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stations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743200" cy="155448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05840"/>
            <a:ext cx="91440" cy="155448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1887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55K kWh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309360" y="17556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Consumed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103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834640"/>
            <a:ext cx="2743200" cy="155448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834640"/>
            <a:ext cx="91440" cy="1554480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57200" y="35844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931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Multi-city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834640"/>
            <a:ext cx="2743200" cy="155448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0" y="2834640"/>
            <a:ext cx="91440" cy="155448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6" name="Text 24"/>
          <p:cNvSpPr/>
          <p:nvPr/>
        </p:nvSpPr>
        <p:spPr>
          <a:xfrm>
            <a:off x="338328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383280" y="35844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Types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3931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&amp; Slow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834640"/>
            <a:ext cx="2743200" cy="155448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26480" y="2834640"/>
            <a:ext cx="91440" cy="155448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31" name="Text 29"/>
          <p:cNvSpPr/>
          <p:nvPr/>
        </p:nvSpPr>
        <p:spPr>
          <a:xfrm>
            <a:off x="63093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309360" y="35844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Types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9360" y="3931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Car, Bike, Scooter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CITY</a:t>
            </a:r>
            <a:endParaRPr lang="en-US" sz="2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914400"/>
          <a:ext cx="54864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126480" y="914400"/>
            <a:ext cx="2743200" cy="393192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263640" y="1051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🏙️ City Insights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263640" y="1554480"/>
            <a:ext cx="2468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 #1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revenue city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 Lowest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opportunity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Cities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Multi-city coverage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8B7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TYPE &amp; VEHICLE ANALYSIS</a:t>
            </a:r>
            <a:endParaRPr lang="en-US" sz="2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914400"/>
          <a:ext cx="41148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754880" y="914400"/>
          <a:ext cx="41148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6858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685800" cy="685800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60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is ₹1M with 2,000 transactions across 100 stations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755648"/>
            <a:ext cx="8595360" cy="6858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755648"/>
            <a:ext cx="685800" cy="68580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7556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189280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 generates the highest revenue; Mumbai generates the lowest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2551176"/>
            <a:ext cx="8595360" cy="6858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551176"/>
            <a:ext cx="685800" cy="685800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255117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" y="2688336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Chargers generate more revenue than Slow Chargers (58% vs 42%)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346704"/>
            <a:ext cx="8595360" cy="6858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346704"/>
            <a:ext cx="685800" cy="68580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" y="334670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97280" y="348386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 consume the highest energy (24K kWh), followed by Cars and Scooters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4142232"/>
            <a:ext cx="8595360" cy="6858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4142232"/>
            <a:ext cx="685800" cy="68580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41422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97280" y="427939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changes daily but overall EV charging usage is stable and growing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8B7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160020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2743200" cy="91440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16002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Tool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Power BI Desktop v2026.02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160020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05840"/>
            <a:ext cx="2743200" cy="91440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🎨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91840" y="16002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1965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CY26SU02 — Power BI Feb 2026 Base Theme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743200" cy="160020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05840"/>
            <a:ext cx="2743200" cy="91440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1097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217920" y="16002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Format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1965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relational dataset (CSV/Database)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926080"/>
            <a:ext cx="2743200" cy="160020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926080"/>
            <a:ext cx="2743200" cy="91440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65760" y="35204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— Dimension + Fact Tables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926080"/>
            <a:ext cx="2743200" cy="1600200"/>
          </a:xfrm>
          <a:prstGeom prst="rect">
            <a:avLst/>
          </a:prstGeom>
          <a:solidFill>
            <a:srgbClr val="1122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0" y="2926080"/>
            <a:ext cx="2743200" cy="91440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291840" y="35204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Cloud (Service)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6A7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143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C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Charging Station Analysis — Power BI Project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1691640"/>
            <a:ext cx="201168" cy="201168"/>
          </a:xfrm>
          <a:prstGeom prst="ellipse">
            <a:avLst/>
          </a:prstGeom>
          <a:solidFill>
            <a:srgbClr val="00C6A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642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is ₹1M with 55K energy usage across 100 stations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2267712"/>
            <a:ext cx="201168" cy="201168"/>
          </a:xfrm>
          <a:prstGeom prst="ellipse">
            <a:avLst/>
          </a:prstGeom>
          <a:solidFill>
            <a:srgbClr val="00C6A7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24028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 is the highest revenue city with consistent growth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843784"/>
            <a:ext cx="201168" cy="201168"/>
          </a:xfrm>
          <a:prstGeom prst="ellipse">
            <a:avLst/>
          </a:prstGeom>
          <a:solidFill>
            <a:srgbClr val="00C6A7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81635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chargers generate more revenue — prioritize in future expansion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3419856"/>
            <a:ext cx="201168" cy="201168"/>
          </a:xfrm>
          <a:prstGeom prst="ellipse">
            <a:avLst/>
          </a:prstGeom>
          <a:solidFill>
            <a:srgbClr val="00C6A7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39242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segment leads in energy consumption across all vehicle types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995928"/>
            <a:ext cx="201168" cy="201168"/>
          </a:xfrm>
          <a:prstGeom prst="ellipse">
            <a:avLst/>
          </a:prstGeom>
          <a:solidFill>
            <a:srgbClr val="00C6A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396849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Overall, EV charging stations show good growth and strong performance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4572000"/>
            <a:ext cx="8412480" cy="347472"/>
          </a:xfrm>
          <a:prstGeom prst="rect">
            <a:avLst/>
          </a:prstGeom>
          <a:solidFill>
            <a:srgbClr val="112240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459943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Nilima </a:t>
            </a:r>
            <a:r>
              <a:rPr lang="en-US" sz="11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surywanshi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Power BI Project  |  2024–2026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369</Words>
  <Application>Microsoft Office PowerPoint</Application>
  <PresentationFormat>On-screen Show (16:9)</PresentationFormat>
  <Paragraphs>96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Charging Station Analysis</dc:title>
  <dc:subject>PptxGenJS Presentation</dc:subject>
  <dc:creator>Jayram Kolage</dc:creator>
  <cp:lastModifiedBy>surywanshinilima77@outlook.com</cp:lastModifiedBy>
  <cp:revision>3</cp:revision>
  <dcterms:created xsi:type="dcterms:W3CDTF">2026-03-13T09:09:25Z</dcterms:created>
  <dcterms:modified xsi:type="dcterms:W3CDTF">2026-03-13T09:34:58Z</dcterms:modified>
</cp:coreProperties>
</file>